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51" autoAdjust="0"/>
  </p:normalViewPr>
  <p:slideViewPr>
    <p:cSldViewPr snapToGrid="0">
      <p:cViewPr varScale="1">
        <p:scale>
          <a:sx n="29" d="100"/>
          <a:sy n="29" d="100"/>
        </p:scale>
        <p:origin x="12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Las RDBMS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muchas</a:t>
            </a:r>
            <a:r>
              <a:rPr dirty="0"/>
              <a:t> </a:t>
            </a:r>
            <a:r>
              <a:rPr dirty="0" err="1"/>
              <a:t>ventajas</a:t>
            </a:r>
            <a:endParaRPr dirty="0"/>
          </a:p>
          <a:p>
            <a:pPr marL="279400" indent="-279400">
              <a:buSzPct val="123000"/>
              <a:buChar char="-"/>
            </a:pPr>
            <a:r>
              <a:rPr dirty="0" err="1"/>
              <a:t>Estandarización</a:t>
            </a:r>
            <a:endParaRPr dirty="0"/>
          </a:p>
          <a:p>
            <a:pPr marL="279400" indent="-279400">
              <a:buSzPct val="123000"/>
              <a:buChar char="-"/>
            </a:pPr>
            <a:r>
              <a:rPr dirty="0" err="1"/>
              <a:t>Buen</a:t>
            </a:r>
            <a:r>
              <a:rPr dirty="0"/>
              <a:t> </a:t>
            </a:r>
            <a:r>
              <a:rPr dirty="0" err="1"/>
              <a:t>manejo</a:t>
            </a:r>
            <a:r>
              <a:rPr dirty="0"/>
              <a:t> de </a:t>
            </a:r>
            <a:r>
              <a:rPr dirty="0" err="1"/>
              <a:t>concurrencia</a:t>
            </a:r>
            <a:endParaRPr dirty="0"/>
          </a:p>
          <a:p>
            <a:pPr marL="279400" indent="-279400">
              <a:buSzPct val="123000"/>
              <a:buChar char="-"/>
            </a:pPr>
            <a:r>
              <a:rPr dirty="0" err="1"/>
              <a:t>Simplicidad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Relacional</a:t>
            </a:r>
            <a:endParaRPr dirty="0"/>
          </a:p>
          <a:p>
            <a:pPr marL="279400" indent="-279400">
              <a:buSzPct val="123000"/>
              <a:buChar char="-"/>
            </a:pPr>
            <a:r>
              <a:rPr dirty="0"/>
              <a:t>SQL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unificador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7" name="Shape 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100"/>
            </a:pPr>
            <a:r>
              <a:t>Una desventaja importante es la diferencia de impedancia: el modelo suele ser diferentes de las estructuras comúnmente utilizadas en memoria (ej. OO).</a:t>
            </a:r>
          </a:p>
          <a:p>
            <a:pPr>
              <a:defRPr sz="2100"/>
            </a:pPr>
            <a:r>
              <a:t>Pero hay otras dos que vale la pena mencionar:</a:t>
            </a:r>
          </a:p>
          <a:p>
            <a:pPr marL="266700" indent="-266700">
              <a:buSzPct val="123000"/>
              <a:buChar char="-"/>
              <a:defRPr sz="2100"/>
            </a:pPr>
            <a:r>
              <a:t>Integración</a:t>
            </a:r>
          </a:p>
          <a:p>
            <a:pPr marL="266700" indent="-266700">
              <a:buSzPct val="123000"/>
              <a:buChar char="-"/>
              <a:defRPr sz="2100"/>
            </a:pPr>
            <a:r>
              <a:t>Escalabilidad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4" name="Shape 2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800"/>
            </a:pPr>
            <a:r>
              <a:rPr dirty="0" err="1"/>
              <a:t>Integración</a:t>
            </a:r>
            <a:endParaRPr dirty="0"/>
          </a:p>
          <a:p>
            <a:pPr marL="228600" indent="-228600">
              <a:buSzPct val="123000"/>
              <a:buChar char="-"/>
              <a:defRPr sz="1800"/>
            </a:pPr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muchas</a:t>
            </a:r>
            <a:r>
              <a:rPr dirty="0"/>
              <a:t>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trabajaban</a:t>
            </a:r>
            <a:r>
              <a:rPr dirty="0"/>
              <a:t> con un solo </a:t>
            </a:r>
            <a:r>
              <a:rPr dirty="0" err="1"/>
              <a:t>conjunto</a:t>
            </a:r>
            <a:r>
              <a:rPr dirty="0"/>
              <a:t> de </a:t>
            </a:r>
            <a:r>
              <a:rPr dirty="0" err="1"/>
              <a:t>datos</a:t>
            </a:r>
            <a:endParaRPr dirty="0"/>
          </a:p>
          <a:p>
            <a:pPr marL="228600" indent="-228600">
              <a:buSzPct val="123000"/>
              <a:buChar char="-"/>
              <a:defRPr sz="1800"/>
            </a:pPr>
            <a:r>
              <a:rPr dirty="0"/>
              <a:t>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trabajar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sola BD, </a:t>
            </a:r>
            <a:r>
              <a:rPr dirty="0" err="1"/>
              <a:t>pero</a:t>
            </a:r>
            <a:r>
              <a:rPr dirty="0"/>
              <a:t> hay que </a:t>
            </a:r>
            <a:r>
              <a:rPr dirty="0" err="1"/>
              <a:t>coordinar</a:t>
            </a:r>
            <a:r>
              <a:rPr dirty="0"/>
              <a:t> las </a:t>
            </a:r>
            <a:r>
              <a:rPr dirty="0" err="1"/>
              <a:t>aplicaciones</a:t>
            </a:r>
            <a:endParaRPr dirty="0"/>
          </a:p>
          <a:p>
            <a:pPr marL="228600" indent="-228600">
              <a:buSzPct val="123000"/>
              <a:buChar char="-"/>
              <a:defRPr sz="1800"/>
            </a:pPr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ser</a:t>
            </a:r>
            <a:r>
              <a:rPr dirty="0"/>
              <a:t> </a:t>
            </a:r>
            <a:r>
              <a:rPr dirty="0" err="1"/>
              <a:t>complicado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</a:p>
          <a:p>
            <a:pPr marL="838200" lvl="1" indent="-228600">
              <a:buSzPct val="123000"/>
              <a:buChar char="-"/>
              <a:defRPr sz="1800"/>
            </a:pPr>
            <a:r>
              <a:rPr dirty="0"/>
              <a:t>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separar</a:t>
            </a:r>
            <a:r>
              <a:rPr dirty="0"/>
              <a:t> las </a:t>
            </a:r>
            <a:r>
              <a:rPr dirty="0" err="1"/>
              <a:t>aplicaciones</a:t>
            </a:r>
            <a:r>
              <a:rPr dirty="0"/>
              <a:t> y …</a:t>
            </a:r>
          </a:p>
          <a:p>
            <a:pPr marL="838200" lvl="1" indent="-228600">
              <a:buSzPct val="123000"/>
              <a:buChar char="-"/>
              <a:defRPr sz="1800"/>
            </a:pPr>
            <a:r>
              <a:rPr dirty="0"/>
              <a:t>…</a:t>
            </a:r>
            <a:r>
              <a:rPr dirty="0" err="1"/>
              <a:t>comunicarlas</a:t>
            </a:r>
            <a:r>
              <a:rPr dirty="0"/>
              <a:t> con Web Services o APIs REST</a:t>
            </a:r>
          </a:p>
          <a:p>
            <a:pPr marL="838200" lvl="1" indent="-228600">
              <a:buSzPct val="123000"/>
              <a:buChar char="-"/>
              <a:defRPr sz="1800"/>
            </a:pP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elegir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propia</a:t>
            </a:r>
            <a:r>
              <a:rPr dirty="0"/>
              <a:t> BD.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7" name="Shape 2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800"/>
            </a:pPr>
            <a:r>
              <a:t>Mundo actual: cambio en la escala de datos generados (redes sociales, logging, etc)</a:t>
            </a:r>
          </a:p>
          <a:p>
            <a:pPr>
              <a:defRPr sz="1800"/>
            </a:pPr>
            <a:r>
              <a:t>Dramático aumento en la información que se almacena</a:t>
            </a:r>
          </a:p>
          <a:p>
            <a:pPr>
              <a:defRPr sz="1800"/>
            </a:pPr>
            <a:r>
              <a:t>Se pueden crear servers monolíticos tan enormes? No &gt;&gt; se pueden utilizar </a:t>
            </a:r>
            <a:r>
              <a:rPr b="1"/>
              <a:t>clusters </a:t>
            </a:r>
            <a:r>
              <a:t>para escalar horizontalmente</a:t>
            </a:r>
          </a:p>
          <a:p>
            <a:pPr>
              <a:defRPr sz="1800"/>
            </a:pPr>
            <a:r>
              <a:t>Problema: las RDBMS no están pensadas para trabajar en clusters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Google y Amazon </a:t>
            </a:r>
            <a:r>
              <a:rPr dirty="0" err="1"/>
              <a:t>lanzan</a:t>
            </a:r>
            <a:r>
              <a:rPr dirty="0"/>
              <a:t> </a:t>
            </a:r>
            <a:r>
              <a:rPr dirty="0" err="1"/>
              <a:t>BigTable</a:t>
            </a:r>
            <a:r>
              <a:rPr dirty="0"/>
              <a:t> y Dynamo</a:t>
            </a:r>
          </a:p>
          <a:p>
            <a:r>
              <a:rPr dirty="0"/>
              <a:t>2009: </a:t>
            </a:r>
            <a:r>
              <a:rPr dirty="0" err="1"/>
              <a:t>aparece</a:t>
            </a:r>
            <a:r>
              <a:rPr dirty="0"/>
              <a:t> el </a:t>
            </a:r>
            <a:r>
              <a:rPr dirty="0" err="1"/>
              <a:t>término</a:t>
            </a:r>
            <a:r>
              <a:rPr dirty="0"/>
              <a:t> NoSQL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meetup de </a:t>
            </a:r>
            <a:r>
              <a:rPr dirty="0" err="1"/>
              <a:t>Hado</a:t>
            </a:r>
            <a:r>
              <a:rPr lang="es-ES" dirty="0" err="1"/>
              <a:t>op</a:t>
            </a:r>
            <a:r>
              <a:rPr lang="es-ES" baseline="0" dirty="0"/>
              <a:t> donde discutían </a:t>
            </a:r>
            <a:r>
              <a:rPr lang="es-ES" baseline="0" dirty="0" err="1"/>
              <a:t>bd</a:t>
            </a:r>
            <a:r>
              <a:rPr lang="es-ES" baseline="0" dirty="0"/>
              <a:t> distribuidas de código abierto.</a:t>
            </a:r>
            <a:endParaRPr dirty="0"/>
          </a:p>
          <a:p>
            <a:r>
              <a:rPr dirty="0"/>
              <a:t>BBDD sin SQL / sin </a:t>
            </a:r>
            <a:r>
              <a:rPr dirty="0" err="1"/>
              <a:t>esquema</a:t>
            </a:r>
            <a:r>
              <a:rPr dirty="0"/>
              <a:t> / </a:t>
            </a:r>
            <a:r>
              <a:rPr dirty="0" err="1"/>
              <a:t>preparadas</a:t>
            </a:r>
            <a:r>
              <a:rPr dirty="0"/>
              <a:t> para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volúmenes</a:t>
            </a:r>
            <a:r>
              <a:rPr dirty="0"/>
              <a:t> / clustering / la web / open source</a:t>
            </a:r>
          </a:p>
          <a:p>
            <a:r>
              <a:rPr dirty="0" err="1"/>
              <a:t>Persistencia</a:t>
            </a:r>
            <a:r>
              <a:rPr dirty="0"/>
              <a:t> </a:t>
            </a:r>
            <a:r>
              <a:rPr dirty="0" err="1"/>
              <a:t>políglota</a:t>
            </a:r>
            <a:r>
              <a:rPr dirty="0"/>
              <a:t> - </a:t>
            </a:r>
            <a:r>
              <a:rPr dirty="0" err="1"/>
              <a:t>propuesta</a:t>
            </a:r>
            <a:r>
              <a:rPr dirty="0"/>
              <a:t> de </a:t>
            </a:r>
            <a:r>
              <a:rPr dirty="0" err="1"/>
              <a:t>mudar</a:t>
            </a:r>
            <a:r>
              <a:rPr dirty="0"/>
              <a:t> a BBDD de </a:t>
            </a:r>
            <a:r>
              <a:rPr dirty="0" err="1"/>
              <a:t>aplicación</a:t>
            </a:r>
            <a:r>
              <a:rPr dirty="0"/>
              <a:t> </a:t>
            </a:r>
            <a:endParaRPr lang="es-ES" dirty="0"/>
          </a:p>
          <a:p>
            <a:r>
              <a:rPr lang="es-ES" dirty="0"/>
              <a:t>Familia de Columnas</a:t>
            </a:r>
            <a:r>
              <a:rPr lang="es-ES" baseline="0" dirty="0"/>
              <a:t> (</a:t>
            </a:r>
            <a:r>
              <a:rPr lang="es-ES" baseline="0" dirty="0" err="1"/>
              <a:t>Cassandra</a:t>
            </a:r>
            <a:r>
              <a:rPr lang="es-ES" baseline="0" dirty="0"/>
              <a:t>): </a:t>
            </a:r>
            <a:r>
              <a:rPr lang="es-ES" baseline="0" dirty="0" err="1"/>
              <a:t>ej</a:t>
            </a:r>
            <a:r>
              <a:rPr lang="es-ES" baseline="0" dirty="0"/>
              <a:t> manejo de datos genéticos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5" name="Shape 23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relacional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normalizado</a:t>
            </a:r>
            <a:endParaRPr lang="es-AR" dirty="0"/>
          </a:p>
          <a:p>
            <a:pPr marL="0" marR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i="0" u="none" strike="noStrike" baseline="0">
                <a:latin typeface="+mn-lt"/>
                <a:ea typeface="+mn-ea"/>
                <a:cs typeface="+mn-cs"/>
                <a:sym typeface="Helvetica Neue"/>
              </a:rPr>
              <a:t>aggregate </a:t>
            </a:r>
            <a:r>
              <a:rPr lang="en-US" sz="2200" b="0" i="0" u="none" strike="noStrike" baseline="0">
                <a:latin typeface="+mn-lt"/>
                <a:ea typeface="+mn-ea"/>
                <a:cs typeface="+mn-cs"/>
                <a:sym typeface="Helvetica Neue"/>
              </a:rPr>
              <a:t>is a collection of related objects that we wish to treat as a unit.</a:t>
            </a:r>
            <a:endParaRPr lang="en-US"/>
          </a:p>
          <a:p>
            <a:r>
              <a:rPr lang="en-US" sz="2200" b="0" i="0" u="none" strike="noStrike" baseline="0">
                <a:latin typeface="+mn-lt"/>
                <a:ea typeface="+mn-ea"/>
                <a:cs typeface="+mn-cs"/>
                <a:sym typeface="Helvetica Neue"/>
              </a:rPr>
              <a:t>Relational </a:t>
            </a:r>
            <a:r>
              <a:rPr lang="en-US" sz="2200" b="0" i="0" u="none" strike="noStrike" baseline="0" dirty="0">
                <a:latin typeface="+mn-lt"/>
                <a:ea typeface="+mn-ea"/>
                <a:cs typeface="+mn-cs"/>
                <a:sym typeface="Helvetica Neue"/>
              </a:rPr>
              <a:t>databases have no concept of aggregate within their data model, so we call them </a:t>
            </a:r>
            <a:r>
              <a:rPr lang="es-AR" sz="2200" b="1" i="0" u="none" strike="noStrike" baseline="0" dirty="0" err="1">
                <a:latin typeface="+mn-lt"/>
                <a:ea typeface="+mn-ea"/>
                <a:cs typeface="+mn-cs"/>
                <a:sym typeface="Helvetica Neue"/>
              </a:rPr>
              <a:t>aggregate-ignorant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1" name="Shape 2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, solo </a:t>
            </a:r>
            <a:r>
              <a:rPr dirty="0" err="1"/>
              <a:t>tenemos</a:t>
            </a:r>
            <a:r>
              <a:rPr dirty="0"/>
              <a:t> Customer y Order.</a:t>
            </a:r>
          </a:p>
          <a:p>
            <a:r>
              <a:rPr dirty="0"/>
              <a:t>“Lo </a:t>
            </a:r>
            <a:r>
              <a:rPr dirty="0" err="1"/>
              <a:t>importante</a:t>
            </a:r>
            <a:r>
              <a:rPr dirty="0"/>
              <a:t> </a:t>
            </a:r>
            <a:r>
              <a:rPr dirty="0" err="1"/>
              <a:t>aquí</a:t>
            </a:r>
            <a:r>
              <a:rPr dirty="0"/>
              <a:t> no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tanto</a:t>
            </a:r>
            <a:r>
              <a:rPr dirty="0"/>
              <a:t> la forma </a:t>
            </a:r>
            <a:r>
              <a:rPr dirty="0" err="1"/>
              <a:t>en</a:t>
            </a:r>
            <a:r>
              <a:rPr dirty="0"/>
              <a:t> que </a:t>
            </a:r>
            <a:r>
              <a:rPr dirty="0" err="1"/>
              <a:t>hemos</a:t>
            </a:r>
            <a:r>
              <a:rPr dirty="0"/>
              <a:t> </a:t>
            </a:r>
            <a:r>
              <a:rPr dirty="0" err="1"/>
              <a:t>trazado</a:t>
            </a:r>
            <a:r>
              <a:rPr dirty="0"/>
              <a:t> el </a:t>
            </a:r>
            <a:r>
              <a:rPr dirty="0" err="1"/>
              <a:t>límite</a:t>
            </a:r>
            <a:r>
              <a:rPr dirty="0"/>
              <a:t> </a:t>
            </a:r>
            <a:r>
              <a:rPr dirty="0" err="1"/>
              <a:t>agregado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el </a:t>
            </a:r>
            <a:r>
              <a:rPr dirty="0" err="1"/>
              <a:t>hecho</a:t>
            </a:r>
            <a:r>
              <a:rPr dirty="0"/>
              <a:t> de que </a:t>
            </a:r>
            <a:r>
              <a:rPr dirty="0" err="1"/>
              <a:t>tienes</a:t>
            </a:r>
            <a:r>
              <a:rPr dirty="0"/>
              <a:t> que </a:t>
            </a:r>
            <a:r>
              <a:rPr dirty="0" err="1"/>
              <a:t>pensar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acceder</a:t>
            </a:r>
            <a:r>
              <a:rPr dirty="0"/>
              <a:t> a </a:t>
            </a:r>
            <a:r>
              <a:rPr dirty="0" err="1"/>
              <a:t>esos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”</a:t>
            </a:r>
            <a:r>
              <a:rPr lang="es-AR" dirty="0"/>
              <a:t> </a:t>
            </a:r>
            <a:r>
              <a:rPr dirty="0"/>
              <a:t>del </a:t>
            </a:r>
            <a:r>
              <a:rPr dirty="0" err="1"/>
              <a:t>libro</a:t>
            </a:r>
            <a:r>
              <a:rPr dirty="0"/>
              <a:t> “</a:t>
            </a:r>
            <a:r>
              <a:rPr i="1" dirty="0"/>
              <a:t>NoSQL Distilled</a:t>
            </a:r>
            <a:r>
              <a:rPr dirty="0"/>
              <a:t>” Fowler/</a:t>
            </a:r>
            <a:r>
              <a:rPr dirty="0" err="1"/>
              <a:t>Sadalage</a:t>
            </a:r>
            <a:endParaRPr lang="es-A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3" name="Shape 2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Notar la repetición de las </a:t>
            </a:r>
            <a:r>
              <a:rPr i="1"/>
              <a:t>Addresses</a:t>
            </a:r>
          </a:p>
          <a:p>
            <a:r>
              <a:t>Es solo un ejemplo, podría estar todo metido en la agregación “Customer”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5" name="Shape 2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•"/>
            </a:pPr>
            <a:r>
              <a:t>Las agregaciones ayudan a mantener la información relevante </a:t>
            </a:r>
            <a:r>
              <a:rPr b="1"/>
              <a:t>cerca</a:t>
            </a:r>
          </a:p>
          <a:p>
            <a:pPr marL="279400" indent="-279400">
              <a:buSzPct val="123000"/>
              <a:buChar char="•"/>
            </a:pPr>
            <a:r>
              <a:t>Buena medida para una arquitectura con </a:t>
            </a:r>
            <a:r>
              <a:rPr b="1"/>
              <a:t>clusters</a:t>
            </a:r>
          </a:p>
          <a:p>
            <a:pPr marL="279400" indent="-279400">
              <a:buSzPct val="123000"/>
              <a:buChar char="•"/>
            </a:pPr>
            <a:r>
              <a:t>Hay que diseñar el </a:t>
            </a:r>
            <a:r>
              <a:rPr b="1"/>
              <a:t>límite</a:t>
            </a:r>
          </a:p>
          <a:p>
            <a:pPr marL="279400" indent="-279400">
              <a:buSzPct val="123000"/>
              <a:buChar char="•"/>
            </a:pPr>
            <a:r>
              <a:t>Para esto, hay que considerar qué información vamos a </a:t>
            </a:r>
            <a:r>
              <a:rPr b="1"/>
              <a:t>consultar</a:t>
            </a:r>
          </a:p>
          <a:p>
            <a:pPr marL="279400" indent="-279400">
              <a:buSzPct val="123000"/>
              <a:buChar char="•"/>
            </a:pPr>
            <a:r>
              <a:t>En el ejemplo, si necesitamos frecuentemente consultar reservas hechas, puede no ser una buena idea embeberlas en el cliente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8" name="Shape 2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•"/>
            </a:pPr>
            <a:r>
              <a:t>Se suele decir que las BBDD NoSQL </a:t>
            </a:r>
            <a:r>
              <a:rPr b="1"/>
              <a:t>no soportan</a:t>
            </a:r>
            <a:r>
              <a:t> transacciones</a:t>
            </a:r>
          </a:p>
          <a:p>
            <a:pPr marL="279400" indent="-279400">
              <a:buSzPct val="123000"/>
              <a:buChar char="•"/>
            </a:pPr>
            <a:r>
              <a:t>Esto no es cierto, simplemente tienen diferente granularidad</a:t>
            </a:r>
          </a:p>
          <a:p>
            <a:pPr marL="279400" indent="-279400">
              <a:buSzPct val="123000"/>
              <a:buChar char="•"/>
            </a:pPr>
            <a:r>
              <a:t>Además, se fueron agregando a los diferentes productos (ej. MongoDB)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7" name="Shape 2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Clave-Valor </a:t>
            </a:r>
            <a:r>
              <a:rPr b="0"/>
              <a:t>(Redis, DynamoDB, Riak) </a:t>
            </a:r>
          </a:p>
          <a:p>
            <a:r>
              <a:t>	- estilo tablas hash, el valor suele ser libre - no da mucho lugar a queries </a:t>
            </a:r>
          </a:p>
          <a:p>
            <a:r>
              <a:t>	- útiles para guardar información básica (sin relaciones externas) con pocos </a:t>
            </a:r>
            <a:r>
              <a:rPr i="1"/>
              <a:t>updates</a:t>
            </a:r>
          </a:p>
          <a:p>
            <a:r>
              <a:t>	- casos de uso frecuentes: sesiones y cachés</a:t>
            </a:r>
          </a:p>
          <a:p>
            <a:pPr>
              <a:defRPr b="1"/>
            </a:pPr>
            <a:r>
              <a:t>Documentos</a:t>
            </a:r>
          </a:p>
          <a:p>
            <a:r>
              <a:t>	- agregaciones con estructura - permite queries</a:t>
            </a:r>
          </a:p>
          <a:p>
            <a:r>
              <a:t>	- sin </a:t>
            </a:r>
            <a:r>
              <a:rPr i="1"/>
              <a:t>schema</a:t>
            </a:r>
            <a:r>
              <a:t> fijo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0" name="Shape 3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Familias de Columnas </a:t>
            </a:r>
            <a:r>
              <a:rPr b="0"/>
              <a:t>(Cassandra, Base) </a:t>
            </a:r>
          </a:p>
          <a:p>
            <a:r>
              <a:t>	- almacenamiento enfocado en columnas, no filas</a:t>
            </a:r>
          </a:p>
          <a:p>
            <a:r>
              <a:t>	- se suelen juntar varias columnas por afinidad para formar familias de columnas</a:t>
            </a:r>
          </a:p>
          <a:p>
            <a:r>
              <a:t>	- se pueden </a:t>
            </a:r>
            <a:r>
              <a:rPr b="1"/>
              <a:t>agregar</a:t>
            </a:r>
            <a:r>
              <a:t> columnas a una fila existente</a:t>
            </a:r>
          </a:p>
          <a:p>
            <a:r>
              <a:t>	- Cassandra por ej. usa otra terminología: </a:t>
            </a:r>
            <a:r>
              <a:rPr i="1"/>
              <a:t>supercolumnas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 pueden relacionar agregaciones, pero</a:t>
            </a:r>
          </a:p>
          <a:p>
            <a:pPr marL="279400" indent="-279400">
              <a:buSzPct val="123000"/>
              <a:buChar char="-"/>
            </a:pPr>
            <a:r>
              <a:t>Las BD NoSQL no saben de esto, generalmente. Algunas sí:</a:t>
            </a:r>
          </a:p>
          <a:p>
            <a:pPr marL="889000" lvl="1" indent="-279400">
              <a:buSzPct val="123000"/>
              <a:buChar char="-"/>
            </a:pPr>
            <a:r>
              <a:t>Riak permite usar metadata de relaciones</a:t>
            </a:r>
          </a:p>
          <a:p>
            <a:pPr marL="889000" lvl="1" indent="-279400">
              <a:buSzPct val="123000"/>
              <a:buChar char="-"/>
            </a:pPr>
            <a:r>
              <a:t>Mongo permite poner índices sobre contenido de la agregación</a:t>
            </a:r>
          </a:p>
          <a:p>
            <a:pPr marL="279400" indent="-279400">
              <a:buSzPct val="123000"/>
              <a:buChar char="-"/>
            </a:pPr>
            <a:r>
              <a:t>Las tx tienen alcance dentro de la agregación</a:t>
            </a:r>
          </a:p>
          <a:p>
            <a:r>
              <a:t>Para muchas relaciones sería mejor una BD Relacional, pero:</a:t>
            </a:r>
          </a:p>
          <a:p>
            <a:pPr marL="279400" indent="-279400">
              <a:buSzPct val="123000"/>
              <a:buChar char="-"/>
            </a:pPr>
            <a:r>
              <a:t>tampoco son tan buenas con relaciones complejas.</a:t>
            </a:r>
          </a:p>
          <a:p>
            <a:pPr marL="279400" indent="-279400">
              <a:buSzPct val="123000"/>
              <a:buChar char="-"/>
            </a:pPr>
            <a:r>
              <a:t>rápidamente se puede complicar a medida que se suman los JOINs</a:t>
            </a:r>
          </a:p>
        </p:txBody>
      </p:sp>
    </p:spTree>
    <p:extLst>
      <p:ext uri="{BB962C8B-B14F-4D97-AF65-F5344CB8AC3E}">
        <p14:creationId xmlns:p14="http://schemas.microsoft.com/office/powerpoint/2010/main" val="81610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9" name="Shape 19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orientadas a grafo resuelven este problema.</a:t>
            </a:r>
          </a:p>
          <a:p>
            <a:r>
              <a:t>Suelen necesitar arquitectura monolítica, a diferencia del resto del mundo NoSQL</a:t>
            </a:r>
          </a:p>
          <a:p>
            <a:r>
              <a:t>Resuelven </a:t>
            </a:r>
            <a:r>
              <a:rPr i="1"/>
              <a:t>otro</a:t>
            </a:r>
            <a:r>
              <a:t> problema de los RDBMS, así que son diferentes de las otras NoSQL</a:t>
            </a:r>
          </a:p>
          <a:p>
            <a:r>
              <a:t>Inserts caros - queries baratas</a:t>
            </a:r>
          </a:p>
        </p:txBody>
      </p:sp>
    </p:spTree>
    <p:extLst>
      <p:ext uri="{BB962C8B-B14F-4D97-AF65-F5344CB8AC3E}">
        <p14:creationId xmlns:p14="http://schemas.microsoft.com/office/powerpoint/2010/main" val="871195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8" name="Shape 2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Productos: Neo4J / ArangoDB / FlockDB / Neptune</a:t>
            </a:r>
          </a:p>
          <a:p>
            <a:r>
              <a:t>Caso de uso: </a:t>
            </a:r>
          </a:p>
          <a:p>
            <a:r>
              <a:t>	- Redes de personas</a:t>
            </a:r>
          </a:p>
          <a:p>
            <a:r>
              <a:t>	- Redes de Conocimiento</a:t>
            </a:r>
          </a:p>
          <a:p>
            <a:r>
              <a:t>	- Web semántica</a:t>
            </a:r>
          </a:p>
          <a:p>
            <a:r>
              <a:t>Queries complejas, con largos caminos. </a:t>
            </a:r>
            <a:r>
              <a:rPr i="1"/>
              <a:t>Buscar los clientes que tengan un vehículo con fabricante que tengan un valor de etc etc…</a:t>
            </a:r>
          </a:p>
          <a:p>
            <a:r>
              <a:rPr b="1"/>
              <a:t>neo4J</a:t>
            </a:r>
            <a:r>
              <a:t> permite aristas con datos / Lenguaje de consultas: </a:t>
            </a:r>
            <a:r>
              <a:rPr b="1"/>
              <a:t>Cypher</a:t>
            </a:r>
          </a:p>
          <a:p>
            <a:r>
              <a:t>Algoritmos de grafo</a:t>
            </a:r>
          </a:p>
        </p:txBody>
      </p:sp>
    </p:spTree>
    <p:extLst>
      <p:ext uri="{BB962C8B-B14F-4D97-AF65-F5344CB8AC3E}">
        <p14:creationId xmlns:p14="http://schemas.microsoft.com/office/powerpoint/2010/main" val="2079344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9" name="Shape 21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●"/>
            </a:pPr>
            <a:r>
              <a:rPr dirty="0"/>
              <a:t>Base de </a:t>
            </a:r>
            <a:r>
              <a:rPr dirty="0" err="1"/>
              <a:t>datos</a:t>
            </a:r>
            <a:r>
              <a:rPr dirty="0"/>
              <a:t> NOSQL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documentos</a:t>
            </a:r>
            <a:endParaRPr lang="es-ES" dirty="0"/>
          </a:p>
          <a:p>
            <a:pPr marL="279400" indent="-279400">
              <a:buSzPct val="123000"/>
              <a:buChar char="●"/>
            </a:pPr>
            <a:r>
              <a:rPr lang="es-ES" dirty="0"/>
              <a:t>Basada en </a:t>
            </a:r>
            <a:r>
              <a:rPr lang="es-ES" dirty="0" err="1"/>
              <a:t>hashing</a:t>
            </a:r>
            <a:endParaRPr dirty="0"/>
          </a:p>
          <a:p>
            <a:pPr marL="279400" indent="-279400">
              <a:buSzPct val="123000"/>
              <a:buChar char="●"/>
            </a:pPr>
            <a:r>
              <a:rPr dirty="0"/>
              <a:t>No </a:t>
            </a:r>
            <a:r>
              <a:rPr dirty="0" err="1"/>
              <a:t>maneja</a:t>
            </a:r>
            <a:r>
              <a:rPr dirty="0"/>
              <a:t> la </a:t>
            </a:r>
            <a:r>
              <a:rPr dirty="0" err="1"/>
              <a:t>noción</a:t>
            </a:r>
            <a:r>
              <a:rPr dirty="0"/>
              <a:t> de </a:t>
            </a:r>
            <a:r>
              <a:rPr dirty="0" err="1"/>
              <a:t>esquemas</a:t>
            </a:r>
            <a:endParaRPr dirty="0"/>
          </a:p>
          <a:p>
            <a:pPr marL="279400" indent="-279400">
              <a:buSzPct val="123000"/>
              <a:buChar char="●"/>
            </a:pPr>
            <a:r>
              <a:rPr dirty="0" err="1"/>
              <a:t>Carece</a:t>
            </a:r>
            <a:r>
              <a:rPr dirty="0"/>
              <a:t> de un </a:t>
            </a:r>
            <a:r>
              <a:rPr dirty="0" err="1"/>
              <a:t>lenguaje</a:t>
            </a:r>
            <a:r>
              <a:rPr dirty="0"/>
              <a:t> DDL.</a:t>
            </a:r>
          </a:p>
          <a:p>
            <a:pPr marL="279400" indent="-279400">
              <a:buSzPct val="123000"/>
              <a:buChar char="●"/>
            </a:pPr>
            <a:r>
              <a:rPr dirty="0"/>
              <a:t>El </a:t>
            </a:r>
            <a:r>
              <a:rPr dirty="0" err="1"/>
              <a:t>formato</a:t>
            </a:r>
            <a:r>
              <a:rPr dirty="0"/>
              <a:t> de </a:t>
            </a:r>
            <a:r>
              <a:rPr dirty="0" err="1"/>
              <a:t>almacenamiento</a:t>
            </a:r>
            <a:r>
              <a:rPr dirty="0"/>
              <a:t> </a:t>
            </a:r>
            <a:r>
              <a:rPr dirty="0" err="1"/>
              <a:t>es</a:t>
            </a:r>
            <a:r>
              <a:rPr dirty="0"/>
              <a:t> BSON (Binary JSON).</a:t>
            </a:r>
          </a:p>
          <a:p>
            <a:pPr marL="279400" indent="-279400">
              <a:buSzPct val="123000"/>
              <a:buChar char="●"/>
            </a:pPr>
            <a:r>
              <a:rPr dirty="0"/>
              <a:t>BSON </a:t>
            </a:r>
            <a:r>
              <a:rPr dirty="0" err="1"/>
              <a:t>guarda</a:t>
            </a:r>
            <a:r>
              <a:rPr dirty="0"/>
              <a:t> </a:t>
            </a:r>
            <a:r>
              <a:rPr dirty="0" err="1"/>
              <a:t>tamaños</a:t>
            </a:r>
            <a:r>
              <a:rPr dirty="0"/>
              <a:t> de campo para mayor </a:t>
            </a:r>
            <a:r>
              <a:rPr dirty="0" err="1"/>
              <a:t>velocidad</a:t>
            </a:r>
            <a:r>
              <a:rPr dirty="0"/>
              <a:t> de </a:t>
            </a:r>
            <a:r>
              <a:rPr dirty="0" err="1"/>
              <a:t>lectura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0394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8" name="Shape 2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Como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crecer</a:t>
            </a:r>
            <a:r>
              <a:rPr dirty="0"/>
              <a:t> (</a:t>
            </a:r>
            <a:r>
              <a:rPr dirty="0" err="1"/>
              <a:t>ej</a:t>
            </a:r>
            <a:r>
              <a:rPr dirty="0"/>
              <a:t>. </a:t>
            </a:r>
            <a:r>
              <a:rPr dirty="0" err="1"/>
              <a:t>sumando</a:t>
            </a:r>
            <a:r>
              <a:rPr dirty="0"/>
              <a:t> </a:t>
            </a:r>
            <a:r>
              <a:rPr dirty="0" err="1"/>
              <a:t>campos</a:t>
            </a:r>
            <a:r>
              <a:rPr dirty="0"/>
              <a:t>), se </a:t>
            </a:r>
            <a:r>
              <a:rPr dirty="0" err="1"/>
              <a:t>asigna</a:t>
            </a:r>
            <a:r>
              <a:rPr dirty="0"/>
              <a:t> </a:t>
            </a:r>
            <a:r>
              <a:rPr dirty="0" err="1"/>
              <a:t>espacio</a:t>
            </a:r>
            <a:r>
              <a:rPr dirty="0"/>
              <a:t> extra al </a:t>
            </a:r>
            <a:r>
              <a:rPr dirty="0" err="1"/>
              <a:t>crearse</a:t>
            </a:r>
            <a:r>
              <a:rPr dirty="0"/>
              <a:t> un </a:t>
            </a:r>
            <a:r>
              <a:rPr dirty="0" err="1"/>
              <a:t>documento</a:t>
            </a:r>
            <a:r>
              <a:rPr dirty="0"/>
              <a:t> que </a:t>
            </a:r>
            <a:r>
              <a:rPr dirty="0" err="1"/>
              <a:t>ayuda</a:t>
            </a:r>
            <a:r>
              <a:rPr dirty="0"/>
              <a:t> a </a:t>
            </a:r>
            <a:r>
              <a:rPr dirty="0" err="1"/>
              <a:t>acomodar</a:t>
            </a:r>
            <a:r>
              <a:rPr dirty="0"/>
              <a:t> </a:t>
            </a:r>
            <a:r>
              <a:rPr dirty="0" err="1"/>
              <a:t>pequeños</a:t>
            </a:r>
            <a:r>
              <a:rPr dirty="0"/>
              <a:t> </a:t>
            </a:r>
            <a:r>
              <a:rPr dirty="0" err="1"/>
              <a:t>cambios</a:t>
            </a:r>
            <a:r>
              <a:rPr dirty="0"/>
              <a:t> sin </a:t>
            </a:r>
            <a:r>
              <a:rPr dirty="0" err="1"/>
              <a:t>necesidad</a:t>
            </a:r>
            <a:r>
              <a:rPr dirty="0"/>
              <a:t> de mover el </a:t>
            </a:r>
            <a:r>
              <a:rPr dirty="0" err="1"/>
              <a:t>documento</a:t>
            </a:r>
            <a:r>
              <a:rPr dirty="0"/>
              <a:t>. Performance vs. </a:t>
            </a:r>
            <a:r>
              <a:rPr dirty="0" err="1"/>
              <a:t>Espacio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Si </a:t>
            </a:r>
            <a:r>
              <a:rPr dirty="0" err="1"/>
              <a:t>crece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allá</a:t>
            </a:r>
            <a:r>
              <a:rPr dirty="0"/>
              <a:t> de </a:t>
            </a:r>
            <a:r>
              <a:rPr dirty="0" err="1"/>
              <a:t>este</a:t>
            </a:r>
            <a:r>
              <a:rPr dirty="0"/>
              <a:t> </a:t>
            </a:r>
            <a:r>
              <a:rPr i="1" dirty="0"/>
              <a:t>padding</a:t>
            </a:r>
            <a:r>
              <a:rPr dirty="0"/>
              <a:t>, (1) se </a:t>
            </a:r>
            <a:r>
              <a:rPr dirty="0" err="1"/>
              <a:t>mueve</a:t>
            </a:r>
            <a:r>
              <a:rPr dirty="0"/>
              <a:t> a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locación</a:t>
            </a:r>
            <a:r>
              <a:rPr dirty="0"/>
              <a:t> con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espacio</a:t>
            </a:r>
            <a:r>
              <a:rPr dirty="0"/>
              <a:t> (2)</a:t>
            </a:r>
          </a:p>
          <a:p>
            <a:r>
              <a:rPr dirty="0" err="1"/>
              <a:t>deja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i="1" dirty="0"/>
              <a:t>tombstone</a:t>
            </a:r>
            <a:r>
              <a:rPr dirty="0"/>
              <a:t> (deleted marker)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lugar</a:t>
            </a:r>
            <a:r>
              <a:rPr dirty="0"/>
              <a:t> original - </a:t>
            </a:r>
            <a:r>
              <a:rPr dirty="0" err="1"/>
              <a:t>fragmentación</a:t>
            </a:r>
            <a:r>
              <a:rPr dirty="0"/>
              <a:t> que 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acumular</a:t>
            </a:r>
            <a:r>
              <a:rPr dirty="0"/>
              <a:t> :(</a:t>
            </a:r>
          </a:p>
          <a:p>
            <a:endParaRPr dirty="0"/>
          </a:p>
          <a:p>
            <a:r>
              <a:rPr dirty="0" err="1"/>
              <a:t>Entonces</a:t>
            </a:r>
            <a:r>
              <a:rPr dirty="0"/>
              <a:t>, MongoDB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compactar</a:t>
            </a:r>
            <a:r>
              <a:rPr dirty="0"/>
              <a:t>. </a:t>
            </a:r>
            <a:r>
              <a:rPr dirty="0" err="1"/>
              <a:t>WiredTiger</a:t>
            </a:r>
            <a:r>
              <a:rPr dirty="0"/>
              <a:t> (motor de </a:t>
            </a:r>
            <a:r>
              <a:rPr dirty="0" err="1"/>
              <a:t>almacenamiento</a:t>
            </a:r>
            <a:r>
              <a:rPr dirty="0"/>
              <a:t>) </a:t>
            </a:r>
            <a:r>
              <a:rPr dirty="0" err="1"/>
              <a:t>comprime</a:t>
            </a:r>
            <a:r>
              <a:rPr dirty="0"/>
              <a:t> (e.g., </a:t>
            </a:r>
            <a:r>
              <a:rPr dirty="0" err="1"/>
              <a:t>zlib</a:t>
            </a:r>
            <a:r>
              <a:rPr dirty="0"/>
              <a:t> or snappy) y compacta </a:t>
            </a:r>
            <a:r>
              <a:rPr dirty="0" err="1"/>
              <a:t>en</a:t>
            </a:r>
            <a:r>
              <a:rPr dirty="0"/>
              <a:t> background.</a:t>
            </a:r>
          </a:p>
          <a:p>
            <a:endParaRPr dirty="0"/>
          </a:p>
          <a:p>
            <a:r>
              <a:rPr dirty="0"/>
              <a:t>Los </a:t>
            </a:r>
            <a:r>
              <a:rPr dirty="0" err="1"/>
              <a:t>esquemas</a:t>
            </a:r>
            <a:r>
              <a:rPr dirty="0"/>
              <a:t> </a:t>
            </a:r>
            <a:r>
              <a:rPr dirty="0" err="1"/>
              <a:t>libres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llevar</a:t>
            </a:r>
            <a:r>
              <a:rPr dirty="0"/>
              <a:t> a </a:t>
            </a:r>
            <a:r>
              <a:rPr dirty="0" err="1"/>
              <a:t>inconsistencias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atributos</a:t>
            </a:r>
            <a:r>
              <a:rPr dirty="0"/>
              <a:t> o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embebidos</a:t>
            </a:r>
            <a:r>
              <a:rPr dirty="0"/>
              <a:t>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grandes</a:t>
            </a:r>
            <a:r>
              <a:rPr dirty="0"/>
              <a:t>. Los </a:t>
            </a:r>
            <a:r>
              <a:rPr dirty="0" err="1"/>
              <a:t>nombres</a:t>
            </a:r>
            <a:r>
              <a:rPr dirty="0"/>
              <a:t> de </a:t>
            </a:r>
            <a:r>
              <a:rPr dirty="0" err="1"/>
              <a:t>atributo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documento</a:t>
            </a:r>
            <a:r>
              <a:rPr dirty="0"/>
              <a:t> son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eficientes</a:t>
            </a:r>
            <a:r>
              <a:rPr dirty="0"/>
              <a:t> que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almacenamiento</a:t>
            </a:r>
            <a:r>
              <a:rPr dirty="0"/>
              <a:t> columnar.</a:t>
            </a:r>
          </a:p>
        </p:txBody>
      </p:sp>
    </p:spTree>
    <p:extLst>
      <p:ext uri="{BB962C8B-B14F-4D97-AF65-F5344CB8AC3E}">
        <p14:creationId xmlns:p14="http://schemas.microsoft.com/office/powerpoint/2010/main" val="4178969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5" name="Shape 23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 tener esquema fijo es conveniente para desarrollar</a:t>
            </a:r>
          </a:p>
          <a:p>
            <a:r>
              <a:t>Pero esto no significa que vamos a tener documentos completamente heterogéneos, dado que igualmente se programa contra los mismos</a:t>
            </a:r>
          </a:p>
        </p:txBody>
      </p:sp>
    </p:spTree>
    <p:extLst>
      <p:ext uri="{BB962C8B-B14F-4D97-AF65-F5344CB8AC3E}">
        <p14:creationId xmlns:p14="http://schemas.microsoft.com/office/powerpoint/2010/main" val="35936109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3" name="Shape 2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Existen conceptos análogos entre RDBMS y BBDD de documentos.</a:t>
            </a:r>
          </a:p>
          <a:p>
            <a:r>
              <a:t>En MongoDB:</a:t>
            </a:r>
          </a:p>
          <a:p>
            <a:r>
              <a:t>	BD - BD</a:t>
            </a:r>
          </a:p>
          <a:p>
            <a:r>
              <a:t>	Tabla - Colección</a:t>
            </a:r>
          </a:p>
          <a:p>
            <a:r>
              <a:t>	Fila - Documento</a:t>
            </a:r>
          </a:p>
          <a:p>
            <a:r>
              <a:t>	Columna - Campo</a:t>
            </a:r>
          </a:p>
        </p:txBody>
      </p:sp>
    </p:spTree>
    <p:extLst>
      <p:ext uri="{BB962C8B-B14F-4D97-AF65-F5344CB8AC3E}">
        <p14:creationId xmlns:p14="http://schemas.microsoft.com/office/powerpoint/2010/main" val="650482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7" name="Shape 2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El </a:t>
            </a:r>
            <a:r>
              <a:rPr dirty="0" err="1"/>
              <a:t>documento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ser</a:t>
            </a:r>
            <a:r>
              <a:rPr dirty="0"/>
              <a:t> mayor a </a:t>
            </a:r>
            <a:r>
              <a:rPr b="1" dirty="0"/>
              <a:t>16mb</a:t>
            </a:r>
          </a:p>
          <a:p>
            <a:r>
              <a:rPr dirty="0"/>
              <a:t>Ni </a:t>
            </a:r>
            <a:r>
              <a:rPr dirty="0" err="1"/>
              <a:t>siquiera</a:t>
            </a:r>
            <a:r>
              <a:rPr dirty="0"/>
              <a:t> las </a:t>
            </a:r>
            <a:r>
              <a:rPr dirty="0" err="1"/>
              <a:t>referencias</a:t>
            </a:r>
            <a:r>
              <a:rPr dirty="0"/>
              <a:t> </a:t>
            </a:r>
            <a:r>
              <a:rPr dirty="0" err="1"/>
              <a:t>sirven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escenario</a:t>
            </a:r>
            <a:r>
              <a:rPr dirty="0"/>
              <a:t> de </a:t>
            </a: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relaciones</a:t>
            </a:r>
            <a:endParaRPr dirty="0"/>
          </a:p>
          <a:p>
            <a:r>
              <a:rPr dirty="0" err="1"/>
              <a:t>En</a:t>
            </a:r>
            <a:r>
              <a:rPr dirty="0"/>
              <a:t> ese </a:t>
            </a:r>
            <a:r>
              <a:rPr dirty="0" err="1"/>
              <a:t>caso</a:t>
            </a:r>
            <a:r>
              <a:rPr dirty="0"/>
              <a:t>, 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usar</a:t>
            </a:r>
            <a:r>
              <a:rPr dirty="0"/>
              <a:t> </a:t>
            </a:r>
            <a:r>
              <a:rPr b="1" dirty="0" err="1"/>
              <a:t>Referencia</a:t>
            </a:r>
            <a:r>
              <a:rPr b="1" dirty="0"/>
              <a:t> al Padre</a:t>
            </a:r>
          </a:p>
        </p:txBody>
      </p:sp>
    </p:spTree>
    <p:extLst>
      <p:ext uri="{BB962C8B-B14F-4D97-AF65-F5344CB8AC3E}">
        <p14:creationId xmlns:p14="http://schemas.microsoft.com/office/powerpoint/2010/main" val="3328683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8" name="Shape 2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•"/>
            </a:pPr>
            <a:r>
              <a:t>Los índices se definen a nivel de las “collections”.</a:t>
            </a:r>
          </a:p>
          <a:p>
            <a:pPr marL="279400" indent="-279400">
              <a:buSzPct val="123000"/>
              <a:buChar char="•"/>
            </a:pPr>
            <a:r>
              <a:t>Se puede hacer en background, sin bloquear la BD </a:t>
            </a:r>
          </a:p>
          <a:p>
            <a:pPr marL="279400" indent="-279400">
              <a:buSzPct val="123000"/>
              <a:buChar char="•"/>
            </a:pPr>
            <a:r>
              <a:t>Se soportan índices por cualquier campo o </a:t>
            </a:r>
            <a:r>
              <a:rPr b="1"/>
              <a:t>subcampo</a:t>
            </a:r>
            <a:r>
              <a:t> del documento.</a:t>
            </a:r>
          </a:p>
          <a:p>
            <a:pPr marL="279400" indent="-279400">
              <a:buSzPct val="123000"/>
              <a:buChar char="•"/>
            </a:pPr>
            <a:r>
              <a:t>MongoDB crea un índice sobre el campo _id durante la creación de una colección. Este índice controla la unicidad del valor del _id. No se puede eliminar este índice.</a:t>
            </a:r>
          </a:p>
        </p:txBody>
      </p:sp>
    </p:spTree>
    <p:extLst>
      <p:ext uri="{BB962C8B-B14F-4D97-AF65-F5344CB8AC3E}">
        <p14:creationId xmlns:p14="http://schemas.microsoft.com/office/powerpoint/2010/main" val="2881793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GeoJSON</a:t>
            </a:r>
            <a:r>
              <a:rPr lang="es-ES" baseline="0" dirty="0"/>
              <a:t> define si es un punto, polígono, línea o </a:t>
            </a:r>
            <a:r>
              <a:rPr lang="es-ES" baseline="0" dirty="0" err="1"/>
              <a:t>multi</a:t>
            </a:r>
            <a:r>
              <a:rPr lang="es-ES" baseline="0" dirty="0"/>
              <a:t>-polígono.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57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2" name="Shape 3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El aggregation </a:t>
            </a:r>
            <a:r>
              <a:rPr dirty="0" err="1"/>
              <a:t>fwk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, </a:t>
            </a:r>
            <a:r>
              <a:rPr dirty="0" err="1"/>
              <a:t>generando</a:t>
            </a:r>
            <a:r>
              <a:rPr dirty="0"/>
              <a:t> un pipeline</a:t>
            </a:r>
          </a:p>
          <a:p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facilita</a:t>
            </a:r>
            <a:r>
              <a:rPr dirty="0"/>
              <a:t> el </a:t>
            </a:r>
            <a:r>
              <a:rPr dirty="0" err="1"/>
              <a:t>manejo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complejas</a:t>
            </a:r>
            <a:endParaRPr lang="es-ES" dirty="0"/>
          </a:p>
          <a:p>
            <a:r>
              <a:rPr lang="es-ES" dirty="0"/>
              <a:t>Mongo en la </a:t>
            </a:r>
            <a:r>
              <a:rPr lang="es-ES" dirty="0" err="1"/>
              <a:t>doc</a:t>
            </a:r>
            <a:r>
              <a:rPr lang="es-ES" dirty="0"/>
              <a:t> dice que no asegura el orden ni las veces que se aplica la función de agregación sobre</a:t>
            </a:r>
            <a:r>
              <a:rPr lang="es-ES" baseline="0" dirty="0"/>
              <a:t> los datos, por lo que se debe </a:t>
            </a:r>
            <a:r>
              <a:rPr lang="es-ES" baseline="0"/>
              <a:t>tener cuidado.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33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>
            <a:spLocks noGrp="1"/>
          </p:cNvSpPr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Hot-air balloons viewed from below against a blue sky"/>
          <p:cNvSpPr>
            <a:spLocks noGrp="1"/>
          </p:cNvSpPr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Hot-air balloons viewed from below against a blue sky"/>
          <p:cNvSpPr>
            <a:spLocks noGrp="1"/>
          </p:cNvSpPr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Close-up of the top of a hot-air balloon viewed from above"/>
          <p:cNvSpPr>
            <a:spLocks noGrp="1"/>
          </p:cNvSpPr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Hot-air balloons viewed from below against a blue sky"/>
          <p:cNvSpPr>
            <a:spLocks noGrp="1"/>
          </p:cNvSpPr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Hot-air balloons viewed from below against a blue sky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Julián Grigera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r>
              <a:rPr lang="es-ES" dirty="0"/>
              <a:t>Federico Orlando</a:t>
            </a:r>
            <a:endParaRPr dirty="0"/>
          </a:p>
        </p:txBody>
      </p:sp>
      <p:sp>
        <p:nvSpPr>
          <p:cNvPr id="152" name="Bases de Datos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Bases de Datos 2</a:t>
            </a:r>
          </a:p>
        </p:txBody>
      </p:sp>
      <p:sp>
        <p:nvSpPr>
          <p:cNvPr id="153" name="Teoría 06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Teoría</a:t>
            </a:r>
            <a:r>
              <a:rPr dirty="0"/>
              <a:t> 0</a:t>
            </a:r>
            <a:r>
              <a:rPr lang="es-ES" dirty="0"/>
              <a:t>5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BBDD Relacionale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181" name="Limitaciones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Limitaciones</a:t>
            </a:r>
          </a:p>
        </p:txBody>
      </p:sp>
      <p:pic>
        <p:nvPicPr>
          <p:cNvPr id="1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1083" y="5815873"/>
            <a:ext cx="2114461" cy="20842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BBDD Relaciona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185" name="Pros y Contra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Pros y Contras</a:t>
            </a:r>
          </a:p>
        </p:txBody>
      </p:sp>
      <p:pic>
        <p:nvPicPr>
          <p:cNvPr id="18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898" y="6468367"/>
            <a:ext cx="4000203" cy="38162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233" y="6869494"/>
            <a:ext cx="3014030" cy="30140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6505" y="6920424"/>
            <a:ext cx="2747330" cy="29121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BBDD Relaciona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193" name="Diferencia de Impedancia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Diferencia de Impedancia</a:t>
            </a:r>
          </a:p>
        </p:txBody>
      </p:sp>
      <p:pic>
        <p:nvPicPr>
          <p:cNvPr id="19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368" y="4934118"/>
            <a:ext cx="6528508" cy="68847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2285" y="5288451"/>
            <a:ext cx="10200646" cy="72318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BBDD Relaciona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200" name="Integració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Integración</a:t>
            </a:r>
          </a:p>
        </p:txBody>
      </p:sp>
      <p:pic>
        <p:nvPicPr>
          <p:cNvPr id="20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678" y="6094218"/>
            <a:ext cx="6148709" cy="4162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6468" y="3289264"/>
            <a:ext cx="6502333" cy="92570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mph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10" dur="indefinite" fill="hold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2" animBg="1" advAuto="0"/>
      <p:bldP spid="202" grpId="1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BBDD Relaciona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207" name="Volumen de Dato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Volumen de Datos</a:t>
            </a:r>
          </a:p>
        </p:txBody>
      </p:sp>
      <p:grpSp>
        <p:nvGrpSpPr>
          <p:cNvPr id="214" name="Group"/>
          <p:cNvGrpSpPr/>
          <p:nvPr/>
        </p:nvGrpSpPr>
        <p:grpSpPr>
          <a:xfrm>
            <a:off x="5619760" y="7281347"/>
            <a:ext cx="12388895" cy="1285325"/>
            <a:chOff x="0" y="0"/>
            <a:chExt cx="12388894" cy="1285323"/>
          </a:xfrm>
        </p:grpSpPr>
        <p:pic>
          <p:nvPicPr>
            <p:cNvPr id="208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332062" cy="128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9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1366" y="0"/>
              <a:ext cx="1332063" cy="1285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0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2733" y="0"/>
              <a:ext cx="1332062" cy="1285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1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4098" y="0"/>
              <a:ext cx="1332063" cy="128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2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5465" y="0"/>
              <a:ext cx="1332063" cy="128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3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56832" y="0"/>
              <a:ext cx="1332063" cy="128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1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2250" y="6470204"/>
            <a:ext cx="3023915" cy="29076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fill="hold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1000" fill="hold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2" animBg="1" advAuto="0"/>
      <p:bldP spid="215" grpId="1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BBDDs NoSQL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BBDDs NoSQL</a:t>
            </a:r>
          </a:p>
        </p:txBody>
      </p:sp>
      <p:sp>
        <p:nvSpPr>
          <p:cNvPr id="220" name="Nuevas generaciones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Nuevas generaciones</a:t>
            </a:r>
          </a:p>
        </p:txBody>
      </p:sp>
      <p:pic>
        <p:nvPicPr>
          <p:cNvPr id="2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5998" y="5037894"/>
            <a:ext cx="4538133" cy="36402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#NoSQ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#NoSQL</a:t>
            </a:r>
          </a:p>
        </p:txBody>
      </p:sp>
      <p:sp>
        <p:nvSpPr>
          <p:cNvPr id="224" name="Bases de Datos No-Relacional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Bases de Datos No-Relacionales</a:t>
            </a: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609" y="5005301"/>
            <a:ext cx="3378003" cy="39270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5463" y="4187573"/>
            <a:ext cx="2816881" cy="49701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206" y="10164572"/>
            <a:ext cx="14533857" cy="17777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1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sp>
        <p:nvSpPr>
          <p:cNvPr id="232" name="No, esas n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No, esas no</a:t>
            </a:r>
          </a:p>
        </p:txBody>
      </p:sp>
      <p:pic>
        <p:nvPicPr>
          <p:cNvPr id="23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415" y="3157731"/>
            <a:ext cx="13516520" cy="98251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sp>
        <p:nvSpPr>
          <p:cNvPr id="238" name="Diseñ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Diseño</a:t>
            </a:r>
          </a:p>
        </p:txBody>
      </p:sp>
      <p:pic>
        <p:nvPicPr>
          <p:cNvPr id="23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724" y="3273140"/>
            <a:ext cx="15383280" cy="9233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sp>
        <p:nvSpPr>
          <p:cNvPr id="244" name="Diseñ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Diseño</a:t>
            </a:r>
          </a:p>
        </p:txBody>
      </p:sp>
      <p:sp>
        <p:nvSpPr>
          <p:cNvPr id="245" name="// in customers…"/>
          <p:cNvSpPr txBox="1"/>
          <p:nvPr/>
        </p:nvSpPr>
        <p:spPr>
          <a:xfrm>
            <a:off x="1151021" y="4043913"/>
            <a:ext cx="6938542" cy="6099933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0" tIns="381000" rIns="381000" bIns="381000" anchor="ctr">
            <a:spAutoFit/>
          </a:bodyPr>
          <a:lstStyle/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// in customers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"id":1,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"name":"Martin",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“billingAddress":[</a:t>
            </a:r>
          </a:p>
          <a:p>
            <a:pPr lvl="1"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{“city”:"Chicago"}</a:t>
            </a:r>
          </a:p>
          <a:p>
            <a:pPr lvl="1"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]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246" name="// in orders…"/>
          <p:cNvSpPr txBox="1"/>
          <p:nvPr/>
        </p:nvSpPr>
        <p:spPr>
          <a:xfrm>
            <a:off x="10114426" y="442534"/>
            <a:ext cx="13708250" cy="12830932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0" tIns="381000" rIns="381000" bIns="381000" anchor="ctr">
            <a:spAutoFit/>
          </a:bodyPr>
          <a:lstStyle/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// in orders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"id":99,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"customerId":1,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"orderItems":[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{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"productId":27,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"price": 32.45,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"productName": "NoSQL Distilled"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} ], 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"shippingAddress":[{"city":"Chicago"}]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"orderPayment":[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{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  "ccinfo":"1000-1000-1000-1000",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  "txnId":"abelif879rft",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  "billingAddress": {"city": "Chicago"}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} 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], }</a:t>
            </a:r>
          </a:p>
        </p:txBody>
      </p:sp>
      <p:grpSp>
        <p:nvGrpSpPr>
          <p:cNvPr id="251" name="Group"/>
          <p:cNvGrpSpPr/>
          <p:nvPr/>
        </p:nvGrpSpPr>
        <p:grpSpPr>
          <a:xfrm>
            <a:off x="2045835" y="7518656"/>
            <a:ext cx="21293029" cy="4248898"/>
            <a:chOff x="-107950" y="-107950"/>
            <a:chExt cx="21293027" cy="4248897"/>
          </a:xfrm>
        </p:grpSpPr>
        <p:pic>
          <p:nvPicPr>
            <p:cNvPr id="247" name="Rounded Rectangle Rounded rectangle" descr="Rounded Rectangle Rounded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7950" y="-107950"/>
              <a:ext cx="5774918" cy="1084955"/>
            </a:xfrm>
            <a:prstGeom prst="rect">
              <a:avLst/>
            </a:prstGeom>
            <a:effectLst/>
          </p:spPr>
        </p:pic>
        <p:pic>
          <p:nvPicPr>
            <p:cNvPr id="249" name="Rounded Rectangle Rounded rectangle" descr="Rounded Rectangle Rounded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10160" y="3055993"/>
              <a:ext cx="5774918" cy="1084955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1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441" y="3441943"/>
            <a:ext cx="5488717" cy="98691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1" name="Group"/>
          <p:cNvGrpSpPr/>
          <p:nvPr/>
        </p:nvGrpSpPr>
        <p:grpSpPr>
          <a:xfrm>
            <a:off x="13330794" y="1875329"/>
            <a:ext cx="1353626" cy="11355773"/>
            <a:chOff x="0" y="0"/>
            <a:chExt cx="1353625" cy="11355771"/>
          </a:xfrm>
        </p:grpSpPr>
        <p:pic>
          <p:nvPicPr>
            <p:cNvPr id="257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353626" cy="2609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8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915458"/>
              <a:ext cx="1353626" cy="2609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5830916"/>
              <a:ext cx="1353626" cy="26093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0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8746373"/>
              <a:ext cx="1353626" cy="26093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6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84803" y="6265752"/>
            <a:ext cx="1366654" cy="3255850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Consideraciones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 defTabSz="825500">
              <a:defRPr sz="5500" b="1">
                <a:solidFill>
                  <a:srgbClr val="000000"/>
                </a:solidFill>
              </a:defRPr>
            </a:lvl1pPr>
          </a:lstStyle>
          <a:p>
            <a:r>
              <a:t>Consideraciones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1" animBg="1" advAuto="0"/>
      <p:bldP spid="262" grpId="2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sp>
        <p:nvSpPr>
          <p:cNvPr id="268" name="Transacciones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l" defTabSz="825500">
              <a:defRPr sz="5500" b="1">
                <a:solidFill>
                  <a:srgbClr val="000000"/>
                </a:solidFill>
              </a:defRPr>
            </a:lvl1pPr>
          </a:lstStyle>
          <a:p>
            <a:r>
              <a:t>Transacciones</a:t>
            </a:r>
          </a:p>
        </p:txBody>
      </p:sp>
      <p:pic>
        <p:nvPicPr>
          <p:cNvPr id="26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312" y="5531740"/>
            <a:ext cx="5051534" cy="452637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6" name="Group"/>
          <p:cNvGrpSpPr/>
          <p:nvPr/>
        </p:nvGrpSpPr>
        <p:grpSpPr>
          <a:xfrm>
            <a:off x="15164145" y="5165628"/>
            <a:ext cx="3874177" cy="5258598"/>
            <a:chOff x="0" y="0"/>
            <a:chExt cx="3874175" cy="5258596"/>
          </a:xfrm>
        </p:grpSpPr>
        <p:pic>
          <p:nvPicPr>
            <p:cNvPr id="270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485900" cy="1320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1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968898"/>
              <a:ext cx="1485900" cy="1320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937796"/>
              <a:ext cx="1485900" cy="1320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3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88275" y="3937796"/>
              <a:ext cx="1485901" cy="1320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4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88274" y="0"/>
              <a:ext cx="1485901" cy="1320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5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88275" y="1968898"/>
              <a:ext cx="1485901" cy="1320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1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Familias NoSQ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Familias NoSQL</a:t>
            </a:r>
          </a:p>
        </p:txBody>
      </p:sp>
      <p:sp>
        <p:nvSpPr>
          <p:cNvPr id="281" name="Tipos de Modelos de Dato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Tipos de Modelos de Datos</a:t>
            </a:r>
          </a:p>
        </p:txBody>
      </p:sp>
      <p:pic>
        <p:nvPicPr>
          <p:cNvPr id="28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609" y="5005301"/>
            <a:ext cx="5799757" cy="6742417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Clave - Valor"/>
          <p:cNvSpPr txBox="1"/>
          <p:nvPr/>
        </p:nvSpPr>
        <p:spPr>
          <a:xfrm>
            <a:off x="4804121" y="12152883"/>
            <a:ext cx="4691928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defTabSz="825500">
              <a:defRPr sz="5500" b="1">
                <a:solidFill>
                  <a:srgbClr val="000000"/>
                </a:solidFill>
              </a:defRPr>
            </a:pPr>
            <a:r>
              <a:rPr>
                <a:solidFill>
                  <a:srgbClr val="837534"/>
                </a:solidFill>
              </a:rPr>
              <a:t>Clave</a:t>
            </a:r>
            <a:r>
              <a:t> - </a:t>
            </a:r>
            <a:r>
              <a:rPr>
                <a:solidFill>
                  <a:srgbClr val="5E5E5E"/>
                </a:solidFill>
              </a:rPr>
              <a:t>Valor</a:t>
            </a:r>
          </a:p>
        </p:txBody>
      </p:sp>
      <p:pic>
        <p:nvPicPr>
          <p:cNvPr id="28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204" y="4187573"/>
            <a:ext cx="4279141" cy="7550213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Documentos"/>
          <p:cNvSpPr txBox="1"/>
          <p:nvPr/>
        </p:nvSpPr>
        <p:spPr>
          <a:xfrm>
            <a:off x="15064861" y="12152883"/>
            <a:ext cx="4691929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defTabSz="825500">
              <a:defRPr sz="5500" b="1"/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5E5E5E"/>
                </a:solidFill>
              </a:rPr>
              <a:t>Documentos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Familias NoSQ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Familias NoSQL</a:t>
            </a:r>
          </a:p>
        </p:txBody>
      </p:sp>
      <p:sp>
        <p:nvSpPr>
          <p:cNvPr id="295" name="Tipos de Modelos de Dato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Tipos de Modelos de Datos</a:t>
            </a:r>
          </a:p>
        </p:txBody>
      </p:sp>
      <p:sp>
        <p:nvSpPr>
          <p:cNvPr id="296" name="Columna"/>
          <p:cNvSpPr txBox="1"/>
          <p:nvPr/>
        </p:nvSpPr>
        <p:spPr>
          <a:xfrm>
            <a:off x="9167884" y="12329793"/>
            <a:ext cx="4691928" cy="934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defTabSz="825500">
              <a:defRPr sz="5500" b="1"/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5E5E5E"/>
                </a:solidFill>
              </a:rPr>
              <a:t>Columna</a:t>
            </a:r>
          </a:p>
        </p:txBody>
      </p:sp>
      <p:pic>
        <p:nvPicPr>
          <p:cNvPr id="2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11" y="7558149"/>
            <a:ext cx="17928378" cy="163672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720" y="6772778"/>
            <a:ext cx="20332146" cy="24870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500" fill="hold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1" animBg="1" advAuto="0"/>
      <p:bldP spid="298" grpId="2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NoSQL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NoSQL</a:t>
            </a:r>
          </a:p>
        </p:txBody>
      </p:sp>
      <p:sp>
        <p:nvSpPr>
          <p:cNvPr id="182" name="Manejo de Relaciones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Manejo de Relaciones</a:t>
            </a:r>
          </a:p>
        </p:txBody>
      </p:sp>
    </p:spTree>
    <p:extLst>
      <p:ext uri="{BB962C8B-B14F-4D97-AF65-F5344CB8AC3E}">
        <p14:creationId xmlns:p14="http://schemas.microsoft.com/office/powerpoint/2010/main" val="353559056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l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Relaciones</a:t>
            </a:r>
          </a:p>
        </p:txBody>
      </p:sp>
      <p:sp>
        <p:nvSpPr>
          <p:cNvPr id="185" name="NoSQL vs. RDM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NoSQL vs. RDMS</a:t>
            </a:r>
          </a:p>
        </p:txBody>
      </p:sp>
      <p:pic>
        <p:nvPicPr>
          <p:cNvPr id="18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3032" y="5266374"/>
            <a:ext cx="5034556" cy="5437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184" y="5474198"/>
            <a:ext cx="5624009" cy="5437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6135" y="5454690"/>
            <a:ext cx="7286551" cy="50606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5380236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500" fill="hold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 advAuto="0"/>
      <p:bldP spid="187" grpId="0" animBg="1" advAuto="0"/>
      <p:bldP spid="188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l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Relaciones</a:t>
            </a:r>
          </a:p>
        </p:txBody>
      </p:sp>
      <p:sp>
        <p:nvSpPr>
          <p:cNvPr id="193" name="NoSQL vs. RDM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NoSQL vs. RDMS</a:t>
            </a:r>
          </a:p>
        </p:txBody>
      </p:sp>
      <p:pic>
        <p:nvPicPr>
          <p:cNvPr id="19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609" y="5005301"/>
            <a:ext cx="3378003" cy="39270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5463" y="4187573"/>
            <a:ext cx="2816881" cy="49701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206" y="10164572"/>
            <a:ext cx="14533857" cy="17777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2550" y="3251381"/>
            <a:ext cx="5358899" cy="604747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657617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 animBg="1" advAuto="0"/>
      <p:bldP spid="197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BBDD Orientadas a Grafo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Orientadas a Grafos</a:t>
            </a:r>
          </a:p>
        </p:txBody>
      </p:sp>
      <p:sp>
        <p:nvSpPr>
          <p:cNvPr id="202" name="Ejemplo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Ejemplos</a:t>
            </a:r>
          </a:p>
        </p:txBody>
      </p:sp>
      <p:pic>
        <p:nvPicPr>
          <p:cNvPr id="20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64" y="4215153"/>
            <a:ext cx="4683858" cy="52856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7657" y="3579437"/>
            <a:ext cx="8824074" cy="63297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10033544"/>
            <a:ext cx="13081000" cy="3289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Neo4j-logo_color.png" descr="Neo4j-logo_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9730" y="6452661"/>
            <a:ext cx="5879431" cy="22065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1388449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animBg="1" advAuto="0"/>
      <p:bldP spid="204" grpId="0" animBg="1" advAuto="0"/>
      <p:bldP spid="205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pic>
        <p:nvPicPr>
          <p:cNvPr id="21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949" y="4533900"/>
            <a:ext cx="2081918" cy="4648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2623723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sp>
        <p:nvSpPr>
          <p:cNvPr id="214" name="Característica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Características</a:t>
            </a:r>
          </a:p>
        </p:txBody>
      </p:sp>
      <p:pic>
        <p:nvPicPr>
          <p:cNvPr id="21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60" y="4121097"/>
            <a:ext cx="4823575" cy="8510825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{…"/>
          <p:cNvSpPr txBox="1"/>
          <p:nvPr/>
        </p:nvSpPr>
        <p:spPr>
          <a:xfrm>
            <a:off x="8646279" y="4346150"/>
            <a:ext cx="6250612" cy="8060719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0" tIns="381000" rIns="381000" bIns="381000" anchor="ctr">
            <a:spAutoFit/>
          </a:bodyPr>
          <a:lstStyle/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"id":99,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“nombre": “Hugo Pérez”,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“dirección”: {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“calle”: “Calle 49”,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“numero”: 4213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“reservas":[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12/3, “detalle”: “2 p”},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12/5, “detalle”: “2 p”},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15/7, “detalle”: “2 p”}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]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217" name="\x16\x00\x00\x00…"/>
          <p:cNvSpPr txBox="1"/>
          <p:nvPr/>
        </p:nvSpPr>
        <p:spPr>
          <a:xfrm>
            <a:off x="16553653" y="6860750"/>
            <a:ext cx="6705291" cy="3031519"/>
          </a:xfrm>
          <a:prstGeom prst="rect">
            <a:avLst/>
          </a:prstGeom>
          <a:solidFill>
            <a:srgbClr val="000000"/>
          </a:solidFill>
          <a:ln w="50800">
            <a:solidFill>
              <a:srgbClr val="929292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0" tIns="381000" rIns="381000" bIns="381000" anchor="ctr">
            <a:spAutoFit/>
          </a:bodyPr>
          <a:lstStyle/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\x16\x00\x00\x00          </a:t>
            </a:r>
          </a:p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\x02                      </a:t>
            </a:r>
          </a:p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hello\x00                 </a:t>
            </a:r>
          </a:p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\x06\x00\x00\x00world\x00 </a:t>
            </a:r>
          </a:p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\x00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6673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animBg="1" advAuto="0"/>
      <p:bldP spid="217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Almacenamien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Almacenamiento</a:t>
            </a:r>
          </a:p>
        </p:txBody>
      </p:sp>
      <p:sp>
        <p:nvSpPr>
          <p:cNvPr id="222" name="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MongoDB</a:t>
            </a:r>
          </a:p>
        </p:txBody>
      </p:sp>
      <p:pic>
        <p:nvPicPr>
          <p:cNvPr id="22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601" y="4736021"/>
            <a:ext cx="10864075" cy="8511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2476" y="4737248"/>
            <a:ext cx="16882041" cy="9475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097" y="7429292"/>
            <a:ext cx="11794914" cy="21981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2591" y="7407433"/>
            <a:ext cx="10776095" cy="30407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700507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500" fill="hold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" dur="1000" fill="hold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animBg="1" advAuto="0"/>
      <p:bldP spid="224" grpId="0" animBg="1" advAuto="0"/>
      <p:bldP spid="225" grpId="0" animBg="1" advAuto="0"/>
      <p:bldP spid="225" grpId="1" animBg="1" advAuto="0"/>
      <p:bldP spid="226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sp>
        <p:nvSpPr>
          <p:cNvPr id="231" name="“Schemaless”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“Schemaless”</a:t>
            </a:r>
          </a:p>
        </p:txBody>
      </p:sp>
      <p:sp>
        <p:nvSpPr>
          <p:cNvPr id="232" name="{…"/>
          <p:cNvSpPr txBox="1"/>
          <p:nvPr/>
        </p:nvSpPr>
        <p:spPr>
          <a:xfrm>
            <a:off x="3635431" y="4569564"/>
            <a:ext cx="6250612" cy="8060718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0" tIns="381000" rIns="381000" bIns="381000" anchor="ctr">
            <a:spAutoFit/>
          </a:bodyPr>
          <a:lstStyle/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"id":99,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“nombre": “Hugo Pérez”,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“dirección”: {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“calle”: “Calle 49”,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“numero”: 4213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“reservas":[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12/3, “detalle”: “2 p”},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12/5, “detalle”: “2 p”},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15/7, “detalle”: “2 p”}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]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233" name="{…"/>
          <p:cNvSpPr txBox="1"/>
          <p:nvPr/>
        </p:nvSpPr>
        <p:spPr>
          <a:xfrm>
            <a:off x="11199578" y="6169764"/>
            <a:ext cx="6250612" cy="4860318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0" tIns="381000" rIns="381000" bIns="381000" anchor="ctr">
            <a:spAutoFit/>
          </a:bodyPr>
          <a:lstStyle/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"id":99,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“nombre": “Ana Lamas”,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“dirección”: {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“calle”: “Calle 4”,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“numero”: 323,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“detalle”: esq 40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699952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animBg="1" advAuto="0"/>
      <p:bldP spid="233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sp>
        <p:nvSpPr>
          <p:cNvPr id="238" name="Estructura vs. RDBM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Estructura vs. RDBMS</a:t>
            </a:r>
          </a:p>
        </p:txBody>
      </p:sp>
      <p:pic>
        <p:nvPicPr>
          <p:cNvPr id="23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143" y="5896554"/>
            <a:ext cx="1859846" cy="1922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868" y="10130580"/>
            <a:ext cx="1859846" cy="1794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239" y="6326480"/>
            <a:ext cx="635001" cy="142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4129" y="10390280"/>
            <a:ext cx="1779950" cy="12751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6363" y="10281713"/>
            <a:ext cx="3785781" cy="167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1119" y="5804172"/>
            <a:ext cx="3785781" cy="28333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7" name="Group"/>
          <p:cNvGrpSpPr/>
          <p:nvPr/>
        </p:nvGrpSpPr>
        <p:grpSpPr>
          <a:xfrm>
            <a:off x="13582792" y="5820872"/>
            <a:ext cx="4297154" cy="5857795"/>
            <a:chOff x="0" y="0"/>
            <a:chExt cx="4297152" cy="5857794"/>
          </a:xfrm>
        </p:grpSpPr>
        <p:pic>
          <p:nvPicPr>
            <p:cNvPr id="245" name="Image" descr="Imag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4462" y="0"/>
              <a:ext cx="2588227" cy="34231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46" name="Image" descr="Imag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4738368"/>
              <a:ext cx="4297153" cy="11194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51" name="Group"/>
          <p:cNvGrpSpPr/>
          <p:nvPr/>
        </p:nvGrpSpPr>
        <p:grpSpPr>
          <a:xfrm>
            <a:off x="18067911" y="6838807"/>
            <a:ext cx="5643208" cy="5064497"/>
            <a:chOff x="0" y="0"/>
            <a:chExt cx="5643207" cy="5064496"/>
          </a:xfrm>
        </p:grpSpPr>
        <p:sp>
          <p:nvSpPr>
            <p:cNvPr id="248" name="Rectangle"/>
            <p:cNvSpPr/>
            <p:nvPr/>
          </p:nvSpPr>
          <p:spPr>
            <a:xfrm>
              <a:off x="0" y="0"/>
              <a:ext cx="5643208" cy="1275188"/>
            </a:xfrm>
            <a:prstGeom prst="rect">
              <a:avLst/>
            </a:prstGeom>
            <a:solidFill>
              <a:srgbClr val="E8F7C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249" name="Image" descr="Imag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94889" y="3495795"/>
              <a:ext cx="3467655" cy="15687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0" name="name: “John Doe”"/>
            <p:cNvSpPr txBox="1"/>
            <p:nvPr/>
          </p:nvSpPr>
          <p:spPr>
            <a:xfrm>
              <a:off x="519100" y="387791"/>
              <a:ext cx="4605009" cy="6116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4000">
                  <a:solidFill>
                    <a:srgbClr val="3B6420"/>
                  </a:solidFill>
                  <a:latin typeface="Consolas"/>
                  <a:ea typeface="Consolas"/>
                  <a:cs typeface="Consolas"/>
                  <a:sym typeface="Consolas"/>
                </a:defRPr>
              </a:lvl1pPr>
            </a:lstStyle>
            <a:p>
              <a:r>
                <a:t>name: “John Doe”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220417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animBg="1" advAuto="0"/>
      <p:bldP spid="244" grpId="0" animBg="1" advAuto="0"/>
      <p:bldP spid="247" grpId="0" animBg="1" advAuto="0"/>
      <p:bldP spid="251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sp>
        <p:nvSpPr>
          <p:cNvPr id="256" name="Relaciones - Prácticas comun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Relaciones - Prácticas comunes</a:t>
            </a:r>
          </a:p>
        </p:txBody>
      </p:sp>
      <p:pic>
        <p:nvPicPr>
          <p:cNvPr id="25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615" y="5378450"/>
            <a:ext cx="4035785" cy="3901817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1 a Varios"/>
          <p:cNvSpPr txBox="1"/>
          <p:nvPr/>
        </p:nvSpPr>
        <p:spPr>
          <a:xfrm>
            <a:off x="2396672" y="9975545"/>
            <a:ext cx="4341671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defTabSz="825500">
              <a:defRPr sz="5500" b="1">
                <a:solidFill>
                  <a:srgbClr val="000000"/>
                </a:solidFill>
              </a:defRPr>
            </a:lvl1pPr>
          </a:lstStyle>
          <a:p>
            <a:r>
              <a:t>1 a Varios</a:t>
            </a:r>
          </a:p>
        </p:txBody>
      </p:sp>
      <p:grpSp>
        <p:nvGrpSpPr>
          <p:cNvPr id="261" name="Group"/>
          <p:cNvGrpSpPr/>
          <p:nvPr/>
        </p:nvGrpSpPr>
        <p:grpSpPr>
          <a:xfrm>
            <a:off x="9192303" y="2900767"/>
            <a:ext cx="6277394" cy="9789591"/>
            <a:chOff x="0" y="0"/>
            <a:chExt cx="6277392" cy="9789590"/>
          </a:xfrm>
        </p:grpSpPr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6277393" cy="83397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0" name="1 a Muchos"/>
            <p:cNvSpPr txBox="1"/>
            <p:nvPr/>
          </p:nvSpPr>
          <p:spPr>
            <a:xfrm>
              <a:off x="967861" y="8854811"/>
              <a:ext cx="4341671" cy="93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/>
            </a:bodyPr>
            <a:lstStyle>
              <a:lvl1pPr defTabSz="825500">
                <a:defRPr sz="5500" b="1">
                  <a:solidFill>
                    <a:srgbClr val="000000"/>
                  </a:solidFill>
                </a:defRPr>
              </a:lvl1pPr>
            </a:lstStyle>
            <a:p>
              <a:r>
                <a:t>1 a Muchos</a:t>
              </a:r>
            </a:p>
          </p:txBody>
        </p:sp>
      </p:grpSp>
      <p:grpSp>
        <p:nvGrpSpPr>
          <p:cNvPr id="265" name="Group"/>
          <p:cNvGrpSpPr/>
          <p:nvPr/>
        </p:nvGrpSpPr>
        <p:grpSpPr>
          <a:xfrm>
            <a:off x="17923656" y="0"/>
            <a:ext cx="5831590" cy="13716001"/>
            <a:chOff x="0" y="0"/>
            <a:chExt cx="5831589" cy="13716000"/>
          </a:xfrm>
        </p:grpSpPr>
        <p:pic>
          <p:nvPicPr>
            <p:cNvPr id="262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4662210" cy="13716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3" name="Rectangle"/>
            <p:cNvSpPr/>
            <p:nvPr/>
          </p:nvSpPr>
          <p:spPr>
            <a:xfrm>
              <a:off x="373019" y="6558221"/>
              <a:ext cx="4662211" cy="9347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64" name="1 a Millones"/>
            <p:cNvSpPr txBox="1"/>
            <p:nvPr/>
          </p:nvSpPr>
          <p:spPr>
            <a:xfrm>
              <a:off x="713449" y="6390610"/>
              <a:ext cx="5118141" cy="93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/>
            </a:bodyPr>
            <a:lstStyle>
              <a:lvl1pPr algn="l" defTabSz="825500">
                <a:defRPr sz="5500" b="1">
                  <a:solidFill>
                    <a:srgbClr val="000000"/>
                  </a:solidFill>
                </a:defRPr>
              </a:lvl1pPr>
            </a:lstStyle>
            <a:p>
              <a:r>
                <a:t>1 a Millones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577987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0" animBg="1" advAuto="0"/>
      <p:bldP spid="265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Demo 0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Demo</a:t>
            </a:r>
          </a:p>
        </p:txBody>
      </p:sp>
      <p:sp>
        <p:nvSpPr>
          <p:cNvPr id="270" name="Operaciones CRUD en MongoDB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Operaciones CRUD en MongoDB</a:t>
            </a:r>
          </a:p>
        </p:txBody>
      </p:sp>
      <p:pic>
        <p:nvPicPr>
          <p:cNvPr id="27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949" y="4533900"/>
            <a:ext cx="2081918" cy="4648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6604368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74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pic>
        <p:nvPicPr>
          <p:cNvPr id="27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762" y="5751271"/>
            <a:ext cx="4880060" cy="365237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543" y="5091893"/>
            <a:ext cx="11621692" cy="497112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497187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81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sp>
        <p:nvSpPr>
          <p:cNvPr id="282" name="Single fiel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Single field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db.collection.createIndex( &lt;key and index type specification&gt;, &lt;options&gt; )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db.records.createIndex( { score: 1 } ) 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db.records.createIndex( { "location.state": 1 } ) </a:t>
            </a:r>
          </a:p>
        </p:txBody>
      </p:sp>
    </p:spTree>
    <p:extLst>
      <p:ext uri="{BB962C8B-B14F-4D97-AF65-F5344CB8AC3E}">
        <p14:creationId xmlns:p14="http://schemas.microsoft.com/office/powerpoint/2010/main" val="127302056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85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sp>
        <p:nvSpPr>
          <p:cNvPr id="286" name="Compound fiel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Compound field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db.collection.createIndex( { &lt;field1&gt;: &lt;type&gt;, &lt;field2&gt;: &lt;type2&gt;, ... } )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db.products.createIndex( { "item": 1, "stock": 1 } )</a:t>
            </a:r>
          </a:p>
        </p:txBody>
      </p:sp>
    </p:spTree>
    <p:extLst>
      <p:ext uri="{BB962C8B-B14F-4D97-AF65-F5344CB8AC3E}">
        <p14:creationId xmlns:p14="http://schemas.microsoft.com/office/powerpoint/2010/main" val="12762254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89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sp>
        <p:nvSpPr>
          <p:cNvPr id="290" name="Geospatial fiel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Geospatial field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db.collection.createIndex( { &lt;location field&gt; : "2dsphere" } )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db.places.createIndex( { loc : "2dsphere" } )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db.places.createIndex( { loc : "2dsphere" , category : -1, name: 1 } ) </a:t>
            </a:r>
          </a:p>
        </p:txBody>
      </p:sp>
    </p:spTree>
    <p:extLst>
      <p:ext uri="{BB962C8B-B14F-4D97-AF65-F5344CB8AC3E}">
        <p14:creationId xmlns:p14="http://schemas.microsoft.com/office/powerpoint/2010/main" val="46729373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93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sp>
        <p:nvSpPr>
          <p:cNvPr id="294" name="db.apartments.find({…"/>
          <p:cNvSpPr txBox="1"/>
          <p:nvPr/>
        </p:nvSpPr>
        <p:spPr>
          <a:xfrm>
            <a:off x="1266688" y="3648037"/>
            <a:ext cx="14876960" cy="2660726"/>
          </a:xfrm>
          <a:prstGeom prst="rect">
            <a:avLst/>
          </a:prstGeom>
          <a:solidFill>
            <a:srgbClr val="33393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0" tIns="508000" rIns="508000" bIns="508000" anchor="ctr">
            <a:spAutoFit/>
          </a:bodyPr>
          <a:lstStyle/>
          <a:p>
            <a:pPr algn="l" defTabSz="825500">
              <a:defRPr sz="38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db.apartments.find({</a:t>
            </a:r>
          </a:p>
          <a:p>
            <a:pPr algn="l" defTabSz="825500">
              <a:defRPr sz="38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location: { $geoWithin: { $geometry : </a:t>
            </a:r>
            <a:r>
              <a:rPr b="1"/>
              <a:t>london</a:t>
            </a:r>
            <a:r>
              <a:t> }  }</a:t>
            </a:r>
          </a:p>
          <a:p>
            <a:pPr algn="l" defTabSz="825500">
              <a:defRPr sz="38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})</a:t>
            </a:r>
          </a:p>
        </p:txBody>
      </p:sp>
      <p:pic>
        <p:nvPicPr>
          <p:cNvPr id="295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450" y="6578600"/>
            <a:ext cx="11404821" cy="67584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1406738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Aggregation Frame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Aggregation Framework</a:t>
            </a:r>
          </a:p>
        </p:txBody>
      </p:sp>
      <p:sp>
        <p:nvSpPr>
          <p:cNvPr id="298" name="Consultas complejas 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Consultas complejas en MongoDB</a:t>
            </a:r>
          </a:p>
        </p:txBody>
      </p:sp>
      <p:pic>
        <p:nvPicPr>
          <p:cNvPr id="29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50" y="6263194"/>
            <a:ext cx="12675049" cy="7318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889" y="3476143"/>
            <a:ext cx="14636571" cy="24916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3592153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Aggregation Frame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Aggregation Framework</a:t>
            </a:r>
          </a:p>
        </p:txBody>
      </p:sp>
      <p:sp>
        <p:nvSpPr>
          <p:cNvPr id="305" name="Consultas complejas 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Consultas complejas en MongoDB</a:t>
            </a:r>
          </a:p>
        </p:txBody>
      </p:sp>
      <p:pic>
        <p:nvPicPr>
          <p:cNvPr id="30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406" y="5673099"/>
            <a:ext cx="20495188" cy="236980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9539547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1741</Words>
  <Application>Microsoft Office PowerPoint</Application>
  <PresentationFormat>Personalizado</PresentationFormat>
  <Paragraphs>258</Paragraphs>
  <Slides>33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6" baseType="lpstr">
      <vt:lpstr>Helvetica Neue</vt:lpstr>
      <vt:lpstr>Helvetica Neue Medium</vt:lpstr>
      <vt:lpstr>30_BasicColor</vt:lpstr>
      <vt:lpstr>Bases de Datos 2</vt:lpstr>
      <vt:lpstr>BBDD Relacionales</vt:lpstr>
      <vt:lpstr>BBDD Relacionales</vt:lpstr>
      <vt:lpstr>BBDD Relacionales</vt:lpstr>
      <vt:lpstr>BBDD Relacionales</vt:lpstr>
      <vt:lpstr>BBDD Relacionales</vt:lpstr>
      <vt:lpstr>BBDDs NoSQL</vt:lpstr>
      <vt:lpstr>#NoSQL</vt:lpstr>
      <vt:lpstr>Agregaciones</vt:lpstr>
      <vt:lpstr>Agregaciones</vt:lpstr>
      <vt:lpstr>Agregaciones</vt:lpstr>
      <vt:lpstr>Agregaciones</vt:lpstr>
      <vt:lpstr>Agregaciones</vt:lpstr>
      <vt:lpstr>Familias NoSQL</vt:lpstr>
      <vt:lpstr>Familias NoSQL</vt:lpstr>
      <vt:lpstr>NoSQL</vt:lpstr>
      <vt:lpstr>Relaciones</vt:lpstr>
      <vt:lpstr>Relaciones</vt:lpstr>
      <vt:lpstr>BBDD Orientadas a Grafos</vt:lpstr>
      <vt:lpstr>MongoDB</vt:lpstr>
      <vt:lpstr>MongoDB</vt:lpstr>
      <vt:lpstr>Almacenamiento</vt:lpstr>
      <vt:lpstr>MongoDB</vt:lpstr>
      <vt:lpstr>MongoDB</vt:lpstr>
      <vt:lpstr>MongoDB</vt:lpstr>
      <vt:lpstr>Demo</vt:lpstr>
      <vt:lpstr>Indices</vt:lpstr>
      <vt:lpstr>Indices</vt:lpstr>
      <vt:lpstr>Indices</vt:lpstr>
      <vt:lpstr>Indices</vt:lpstr>
      <vt:lpstr>Indices</vt:lpstr>
      <vt:lpstr>Aggregation Framework</vt:lpstr>
      <vt:lpstr>Aggregation Framework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2</dc:title>
  <dc:creator>Fede</dc:creator>
  <cp:lastModifiedBy>Neftali Taiel Toledo</cp:lastModifiedBy>
  <cp:revision>11</cp:revision>
  <dcterms:modified xsi:type="dcterms:W3CDTF">2026-06-05T20:36:18Z</dcterms:modified>
</cp:coreProperties>
</file>